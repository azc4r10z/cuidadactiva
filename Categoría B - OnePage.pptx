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155448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BFF"/>
    <a:srgbClr val="EBF0F4"/>
    <a:srgbClr val="FFF1FA"/>
    <a:srgbClr val="FFF1FF"/>
    <a:srgbClr val="EFF0EA"/>
    <a:srgbClr val="EE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2" y="-1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ortez" userId="1dbe37f3ea49abda" providerId="LiveId" clId="{5EE0BF57-F25A-42A7-8D54-899F058EBA6F}"/>
    <pc:docChg chg="undo custSel delSld modSld">
      <pc:chgData name="Carlos Cortez" userId="1dbe37f3ea49abda" providerId="LiveId" clId="{5EE0BF57-F25A-42A7-8D54-899F058EBA6F}" dt="2026-04-02T16:16:50.317" v="494" actId="1076"/>
      <pc:docMkLst>
        <pc:docMk/>
      </pc:docMkLst>
      <pc:sldChg chg="del">
        <pc:chgData name="Carlos Cortez" userId="1dbe37f3ea49abda" providerId="LiveId" clId="{5EE0BF57-F25A-42A7-8D54-899F058EBA6F}" dt="2026-04-02T15:38:12.427" v="0" actId="47"/>
        <pc:sldMkLst>
          <pc:docMk/>
          <pc:sldMk cId="74719238" sldId="256"/>
        </pc:sldMkLst>
      </pc:sldChg>
      <pc:sldChg chg="addSp modSp mod">
        <pc:chgData name="Carlos Cortez" userId="1dbe37f3ea49abda" providerId="LiveId" clId="{5EE0BF57-F25A-42A7-8D54-899F058EBA6F}" dt="2026-04-02T16:16:50.317" v="494" actId="1076"/>
        <pc:sldMkLst>
          <pc:docMk/>
          <pc:sldMk cId="2214495076" sldId="259"/>
        </pc:sldMkLst>
        <pc:spChg chg="mod">
          <ac:chgData name="Carlos Cortez" userId="1dbe37f3ea49abda" providerId="LiveId" clId="{5EE0BF57-F25A-42A7-8D54-899F058EBA6F}" dt="2026-04-02T15:48:50.975" v="333" actId="113"/>
          <ac:spMkLst>
            <pc:docMk/>
            <pc:sldMk cId="2214495076" sldId="259"/>
            <ac:spMk id="13" creationId="{8548CE72-D1D5-46C7-C2F6-B0213BA42A74}"/>
          </ac:spMkLst>
        </pc:spChg>
        <pc:spChg chg="mod">
          <ac:chgData name="Carlos Cortez" userId="1dbe37f3ea49abda" providerId="LiveId" clId="{5EE0BF57-F25A-42A7-8D54-899F058EBA6F}" dt="2026-04-02T15:48:20.260" v="332" actId="122"/>
          <ac:spMkLst>
            <pc:docMk/>
            <pc:sldMk cId="2214495076" sldId="259"/>
            <ac:spMk id="17" creationId="{6A71DE23-02D6-15BE-A090-29512D72D90C}"/>
          </ac:spMkLst>
        </pc:spChg>
        <pc:spChg chg="mod">
          <ac:chgData name="Carlos Cortez" userId="1dbe37f3ea49abda" providerId="LiveId" clId="{5EE0BF57-F25A-42A7-8D54-899F058EBA6F}" dt="2026-04-02T15:57:47.699" v="454" actId="1035"/>
          <ac:spMkLst>
            <pc:docMk/>
            <pc:sldMk cId="2214495076" sldId="259"/>
            <ac:spMk id="23" creationId="{722182E5-BB89-B5F2-9E79-029086C9DE12}"/>
          </ac:spMkLst>
        </pc:spChg>
        <pc:spChg chg="mod">
          <ac:chgData name="Carlos Cortez" userId="1dbe37f3ea49abda" providerId="LiveId" clId="{5EE0BF57-F25A-42A7-8D54-899F058EBA6F}" dt="2026-04-02T15:57:36.170" v="449" actId="1035"/>
          <ac:spMkLst>
            <pc:docMk/>
            <pc:sldMk cId="2214495076" sldId="259"/>
            <ac:spMk id="24" creationId="{B113437D-A210-EBD6-EC38-FDB0F02E1640}"/>
          </ac:spMkLst>
        </pc:spChg>
        <pc:spChg chg="mod">
          <ac:chgData name="Carlos Cortez" userId="1dbe37f3ea49abda" providerId="LiveId" clId="{5EE0BF57-F25A-42A7-8D54-899F058EBA6F}" dt="2026-04-02T15:58:02.732" v="470" actId="1035"/>
          <ac:spMkLst>
            <pc:docMk/>
            <pc:sldMk cId="2214495076" sldId="259"/>
            <ac:spMk id="25" creationId="{468F9981-365A-56FC-4A00-FCE2042208D7}"/>
          </ac:spMkLst>
        </pc:spChg>
        <pc:spChg chg="mod">
          <ac:chgData name="Carlos Cortez" userId="1dbe37f3ea49abda" providerId="LiveId" clId="{5EE0BF57-F25A-42A7-8D54-899F058EBA6F}" dt="2026-04-02T16:01:32.428" v="472" actId="6549"/>
          <ac:spMkLst>
            <pc:docMk/>
            <pc:sldMk cId="2214495076" sldId="259"/>
            <ac:spMk id="26" creationId="{530A4A9E-22DA-B9D1-1FF6-078264865AF9}"/>
          </ac:spMkLst>
        </pc:spChg>
        <pc:spChg chg="mod">
          <ac:chgData name="Carlos Cortez" userId="1dbe37f3ea49abda" providerId="LiveId" clId="{5EE0BF57-F25A-42A7-8D54-899F058EBA6F}" dt="2026-04-02T15:51:04.290" v="339" actId="1076"/>
          <ac:spMkLst>
            <pc:docMk/>
            <pc:sldMk cId="2214495076" sldId="259"/>
            <ac:spMk id="29" creationId="{F1951A22-90B7-964D-B8C9-442AE6A4CB69}"/>
          </ac:spMkLst>
        </pc:spChg>
        <pc:picChg chg="mod">
          <ac:chgData name="Carlos Cortez" userId="1dbe37f3ea49abda" providerId="LiveId" clId="{5EE0BF57-F25A-42A7-8D54-899F058EBA6F}" dt="2026-04-02T16:00:27.993" v="471" actId="14826"/>
          <ac:picMkLst>
            <pc:docMk/>
            <pc:sldMk cId="2214495076" sldId="259"/>
            <ac:picMk id="2" creationId="{03E24472-F4B6-30C1-4294-7C2718AE1E5B}"/>
          </ac:picMkLst>
        </pc:picChg>
        <pc:picChg chg="mod modCrop">
          <ac:chgData name="Carlos Cortez" userId="1dbe37f3ea49abda" providerId="LiveId" clId="{5EE0BF57-F25A-42A7-8D54-899F058EBA6F}" dt="2026-04-02T16:15:34.682" v="480" actId="18131"/>
          <ac:picMkLst>
            <pc:docMk/>
            <pc:sldMk cId="2214495076" sldId="259"/>
            <ac:picMk id="3" creationId="{D292FB76-05C6-CACE-FD98-52D1D5B3CD9D}"/>
          </ac:picMkLst>
        </pc:picChg>
        <pc:picChg chg="add mod modCrop">
          <ac:chgData name="Carlos Cortez" userId="1dbe37f3ea49abda" providerId="LiveId" clId="{5EE0BF57-F25A-42A7-8D54-899F058EBA6F}" dt="2026-04-02T16:16:50.317" v="494" actId="1076"/>
          <ac:picMkLst>
            <pc:docMk/>
            <pc:sldMk cId="2214495076" sldId="259"/>
            <ac:picMk id="5" creationId="{AA9CAF65-1549-0A70-DFFA-309658182BB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4CD66FA-0036-488C-2205-9D24394A93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0F3DBD-8640-7A97-2F54-63CD80A436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FBBDA-D442-416D-A0A7-AE2EC530CD8D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A7B304-6A35-EDFF-1F1A-41FE6CA946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E9368C-5861-CC79-61F5-E02B322AC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90389-011D-4D8B-AD19-2ECC4A2DC3B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20487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D72D3-5508-451D-B737-45B26D0D793C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44575" y="1143000"/>
            <a:ext cx="4768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8F84C-7582-4316-8A55-4AE6E08243B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87739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1646133"/>
            <a:ext cx="13213080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5282989"/>
            <a:ext cx="11658600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347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2767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10" y="2507618"/>
            <a:ext cx="13407390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10" y="6731215"/>
            <a:ext cx="13407390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82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476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2677584"/>
            <a:ext cx="660654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2677584"/>
            <a:ext cx="6606540" cy="63819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166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35519"/>
            <a:ext cx="13407390" cy="194415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2465706"/>
            <a:ext cx="6576178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3674110"/>
            <a:ext cx="6576178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6" y="2465706"/>
            <a:ext cx="6608565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6" y="3674110"/>
            <a:ext cx="6608565" cy="54040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723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5219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9320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670560"/>
            <a:ext cx="5013603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1448226"/>
            <a:ext cx="7869555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3017520"/>
            <a:ext cx="5013603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6325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670560"/>
            <a:ext cx="5013603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1448226"/>
            <a:ext cx="7869555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3017520"/>
            <a:ext cx="5013603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791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3958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8" y="535517"/>
            <a:ext cx="3351848" cy="852402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6" y="535517"/>
            <a:ext cx="9861233" cy="852402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0413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535519"/>
            <a:ext cx="1340739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2677584"/>
            <a:ext cx="1340739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9322649"/>
            <a:ext cx="34975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4B02C-B694-4663-9B20-8897A4973967}" type="datetimeFigureOut">
              <a:rPr lang="es-419" smtClean="0"/>
              <a:t>2/4/2026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9322649"/>
            <a:ext cx="524637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9322649"/>
            <a:ext cx="34975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F9F41-1986-4B23-9688-6249FBCF67D0}" type="slidenum">
              <a:rPr lang="es-419" smtClean="0"/>
              <a:t>‹Nº›</a:t>
            </a:fld>
            <a:endParaRPr lang="es-419"/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1BF47F59-5A82-C541-A080-1324F17685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0" y="2647951"/>
            <a:ext cx="4762501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6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9BFF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1951A22-90B7-964D-B8C9-442AE6A4CB69}"/>
              </a:ext>
            </a:extLst>
          </p:cNvPr>
          <p:cNvSpPr/>
          <p:nvPr/>
        </p:nvSpPr>
        <p:spPr>
          <a:xfrm>
            <a:off x="271277" y="161435"/>
            <a:ext cx="15002244" cy="9735530"/>
          </a:xfrm>
          <a:prstGeom prst="round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12CAC576-8D44-8FCE-F1C4-830FB1600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65" y="227336"/>
            <a:ext cx="2928698" cy="129471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C77A411-9748-0C30-6703-8781DE0971B1}"/>
              </a:ext>
            </a:extLst>
          </p:cNvPr>
          <p:cNvSpPr txBox="1"/>
          <p:nvPr/>
        </p:nvSpPr>
        <p:spPr>
          <a:xfrm>
            <a:off x="4542588" y="1643300"/>
            <a:ext cx="6570467" cy="723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518"/>
              </a:spcAft>
              <a:tabLst>
                <a:tab pos="295910" algn="l"/>
              </a:tabLst>
            </a:pPr>
            <a:r>
              <a:rPr lang="es-MX" sz="40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Innovación Digital</a:t>
            </a:r>
            <a:endParaRPr lang="en-US" sz="4000" dirty="0">
              <a:effectLst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548CE72-D1D5-46C7-C2F6-B0213BA42A74}"/>
              </a:ext>
            </a:extLst>
          </p:cNvPr>
          <p:cNvSpPr txBox="1"/>
          <p:nvPr/>
        </p:nvSpPr>
        <p:spPr>
          <a:xfrm>
            <a:off x="3027205" y="2513211"/>
            <a:ext cx="8997732" cy="148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518"/>
              </a:spcAft>
              <a:buSzPts val="1000"/>
              <a:tabLst>
                <a:tab pos="295854" algn="l"/>
              </a:tabLst>
            </a:pPr>
            <a:r>
              <a:rPr lang="es-ES" sz="2500" b="1" dirty="0"/>
              <a:t>CIUDAD ACTIVA: SISTEMA DE GESTIÓN URBANA INTELIGENTE</a:t>
            </a:r>
            <a:endParaRPr lang="es-MX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518"/>
              </a:spcAft>
              <a:buSzPts val="1000"/>
              <a:tabLst>
                <a:tab pos="295854" algn="l"/>
              </a:tabLst>
            </a:pPr>
            <a:r>
              <a:rPr lang="es-ES" sz="1600" b="1" dirty="0"/>
              <a:t>Conectando </a:t>
            </a:r>
            <a:r>
              <a:rPr lang="es-MX" sz="1600" b="1" dirty="0"/>
              <a:t>ciudadanos y gobierno para resolver problemas humanos con inteligencia</a:t>
            </a:r>
            <a:endParaRPr lang="es-419" sz="1600" b="1" dirty="0"/>
          </a:p>
          <a:p>
            <a:endParaRPr lang="es-419" sz="1165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71DE23-02D6-15BE-A090-29512D72D90C}"/>
              </a:ext>
            </a:extLst>
          </p:cNvPr>
          <p:cNvSpPr txBox="1"/>
          <p:nvPr/>
        </p:nvSpPr>
        <p:spPr>
          <a:xfrm>
            <a:off x="3319841" y="3814478"/>
            <a:ext cx="8841679" cy="794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Transformamos </a:t>
            </a:r>
            <a:r>
              <a:rPr lang="es-MX" sz="1700" dirty="0">
                <a:latin typeface="Arial" panose="020B0604020202020204" pitchFamily="34" charset="0"/>
                <a:cs typeface="Arial" panose="020B0604020202020204" pitchFamily="34" charset="0"/>
              </a:rPr>
              <a:t>reportes en decisiones inteligentes para construir ciudades más eficientes, transparentes y sostenibles</a:t>
            </a:r>
            <a:endParaRPr lang="es-419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419" sz="1165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22182E5-BB89-B5F2-9E79-029086C9DE12}"/>
              </a:ext>
            </a:extLst>
          </p:cNvPr>
          <p:cNvSpPr txBox="1"/>
          <p:nvPr/>
        </p:nvSpPr>
        <p:spPr>
          <a:xfrm>
            <a:off x="8565754" y="4494681"/>
            <a:ext cx="4335985" cy="57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Descripción de la Solución (Sinopsis)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419" sz="1165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113437D-A210-EBD6-EC38-FDB0F02E1640}"/>
              </a:ext>
            </a:extLst>
          </p:cNvPr>
          <p:cNvSpPr txBox="1"/>
          <p:nvPr/>
        </p:nvSpPr>
        <p:spPr>
          <a:xfrm>
            <a:off x="7380171" y="4846792"/>
            <a:ext cx="728632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Problema: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Las ciudades enfrentan una gestión ineficiente de incidencias urbanas como baches, fallas de alumbrado y acumulación de basura, lo que genera retrasos en su atención, mala distribución de recursos y desconfianza ciudadana.</a:t>
            </a:r>
          </a:p>
          <a:p>
            <a:pPr algn="just"/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Solución: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500" dirty="0" err="1">
                <a:latin typeface="Arial" panose="020B0604020202020204" pitchFamily="34" charset="0"/>
                <a:cs typeface="Arial" panose="020B0604020202020204" pitchFamily="34" charset="0"/>
              </a:rPr>
              <a:t>CiudadActiva</a:t>
            </a:r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 es una plataforma digital que permite a los ciudadanos reportar incidencias urbanas mediante una aplicación móvil. Un motor de inteligencia artificial analiza cada reporte considerando variables como frecuencia, ubicación, tipo de problema y tiempo sin resolución, generando un puntaje de prioridad. Esto permite al gobierno atender primero las incidencias de mayor impacto, optimizando recursos y reduciendo tiempos de respuesta. Además, el sistema incluye un </a:t>
            </a:r>
            <a:r>
              <a:rPr lang="es-MX" sz="15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 de monitoreo y notificaciones en tiempo real para el ciudadano.</a:t>
            </a:r>
            <a:endParaRPr lang="es-419" sz="15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68F9981-365A-56FC-4A00-FCE2042208D7}"/>
              </a:ext>
            </a:extLst>
          </p:cNvPr>
          <p:cNvSpPr txBox="1"/>
          <p:nvPr/>
        </p:nvSpPr>
        <p:spPr>
          <a:xfrm>
            <a:off x="8285236" y="7464784"/>
            <a:ext cx="5570274" cy="57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Diferenciadores e Innovación (Listado de Valor)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419" sz="1165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30A4A9E-22DA-B9D1-1FF6-078264865AF9}"/>
              </a:ext>
            </a:extLst>
          </p:cNvPr>
          <p:cNvSpPr txBox="1"/>
          <p:nvPr/>
        </p:nvSpPr>
        <p:spPr>
          <a:xfrm>
            <a:off x="7380171" y="7838677"/>
            <a:ext cx="738040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59170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b="1" dirty="0" err="1">
                <a:latin typeface="Arial" panose="020B0604020202020204" pitchFamily="34" charset="0"/>
              </a:rPr>
              <a:t>Eficiencia</a:t>
            </a:r>
            <a:r>
              <a:rPr lang="en-US" altLang="en-US" sz="1500" b="1" dirty="0">
                <a:latin typeface="Arial" panose="020B0604020202020204" pitchFamily="34" charset="0"/>
              </a:rPr>
              <a:t>:</a:t>
            </a:r>
            <a:r>
              <a:rPr lang="en-US" altLang="en-US" sz="1500" dirty="0">
                <a:latin typeface="Arial" panose="020B0604020202020204" pitchFamily="34" charset="0"/>
              </a:rPr>
              <a:t> </a:t>
            </a:r>
            <a:r>
              <a:rPr lang="es-MX" altLang="en-US" sz="1500" dirty="0">
                <a:latin typeface="Arial" panose="020B0604020202020204" pitchFamily="34" charset="0"/>
              </a:rPr>
              <a:t>Optimiza la atención de incidencias reduciendo tiempos de respuesta.</a:t>
            </a:r>
          </a:p>
          <a:p>
            <a:pPr marL="285750" indent="-285750" defTabSz="59170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b="1" dirty="0" err="1">
                <a:latin typeface="Arial" panose="020B0604020202020204" pitchFamily="34" charset="0"/>
              </a:rPr>
              <a:t>Tecnología</a:t>
            </a:r>
            <a:r>
              <a:rPr lang="en-US" altLang="en-US" sz="1500" b="1" dirty="0">
                <a:latin typeface="Arial" panose="020B0604020202020204" pitchFamily="34" charset="0"/>
              </a:rPr>
              <a:t>:</a:t>
            </a:r>
            <a:r>
              <a:rPr lang="en-US" altLang="en-US" sz="1500" dirty="0">
                <a:latin typeface="Arial" panose="020B0604020202020204" pitchFamily="34" charset="0"/>
              </a:rPr>
              <a:t> </a:t>
            </a:r>
            <a:r>
              <a:rPr lang="es-MX" altLang="en-US" sz="1500" dirty="0">
                <a:latin typeface="Arial" panose="020B0604020202020204" pitchFamily="34" charset="0"/>
              </a:rPr>
              <a:t>Uso de inteligencia artificial para priorización basada en datos reales.</a:t>
            </a:r>
          </a:p>
          <a:p>
            <a:pPr marL="285750" indent="-285750" defTabSz="59170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b="1" dirty="0">
                <a:latin typeface="Arial" panose="020B0604020202020204" pitchFamily="34" charset="0"/>
              </a:rPr>
              <a:t>Impacto:</a:t>
            </a:r>
            <a:r>
              <a:rPr lang="en-US" altLang="en-US" sz="1500" dirty="0">
                <a:latin typeface="Arial" panose="020B0604020202020204" pitchFamily="34" charset="0"/>
              </a:rPr>
              <a:t> </a:t>
            </a:r>
            <a:r>
              <a:rPr lang="es-MX" altLang="en-US" sz="1500" dirty="0">
                <a:latin typeface="Arial" panose="020B0604020202020204" pitchFamily="34" charset="0"/>
              </a:rPr>
              <a:t>Mejora la calidad de vida urbana y fortalece la confianza ciudadana.</a:t>
            </a:r>
            <a:endParaRPr lang="es-419" altLang="en-US" sz="1500" dirty="0">
              <a:latin typeface="Arial" panose="020B0604020202020204" pitchFamily="34" charset="0"/>
            </a:endParaRPr>
          </a:p>
          <a:p>
            <a:pPr marL="285750" indent="-285750" defTabSz="591708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n-US" sz="1500" b="1" dirty="0">
                <a:latin typeface="Arial" panose="020B0604020202020204" pitchFamily="34" charset="0"/>
              </a:rPr>
              <a:t>Participación Ciudadana: </a:t>
            </a:r>
            <a:r>
              <a:rPr lang="es-MX" altLang="en-US" sz="1500" dirty="0">
                <a:latin typeface="Arial" panose="020B0604020202020204" pitchFamily="34" charset="0"/>
              </a:rPr>
              <a:t>Integra al ciudadano en el proceso de solución, no solo en el reporte.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E24472-F4B6-30C1-4294-7C2718AE1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67430" y="2518893"/>
            <a:ext cx="1265811" cy="12658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92FB76-05C6-CACE-FD98-52D1D5B3C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3" t="-1598" r="31033" b="1598"/>
          <a:stretch>
            <a:fillRect/>
          </a:stretch>
        </p:blipFill>
        <p:spPr>
          <a:xfrm>
            <a:off x="1857988" y="4668858"/>
            <a:ext cx="4335985" cy="500848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Imagen 29" descr="Texto&#10;&#10;El contenido generado por IA puede ser incorrecto.">
            <a:extLst>
              <a:ext uri="{FF2B5EF4-FFF2-40B4-BE49-F238E27FC236}">
                <a16:creationId xmlns:a16="http://schemas.microsoft.com/office/drawing/2014/main" id="{97A7585A-1C8E-1FCC-64B1-876A3260E4D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54506">
            <a:off x="-25791" y="821496"/>
            <a:ext cx="3324990" cy="1870308"/>
          </a:xfrm>
          <a:prstGeom prst="rect">
            <a:avLst/>
          </a:prstGeom>
        </p:spPr>
      </p:pic>
      <p:pic>
        <p:nvPicPr>
          <p:cNvPr id="32" name="Imagen 31" descr="Icono&#10;&#10;El contenido generado por IA puede ser incorrecto.">
            <a:extLst>
              <a:ext uri="{FF2B5EF4-FFF2-40B4-BE49-F238E27FC236}">
                <a16:creationId xmlns:a16="http://schemas.microsoft.com/office/drawing/2014/main" id="{4C617BA9-3D02-CE99-5D8B-FB62E4E384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805" y="287476"/>
            <a:ext cx="2234247" cy="25343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9CAF65-1549-0A70-DFFA-309658182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85" t="17266" r="8234" b="15971"/>
          <a:stretch>
            <a:fillRect/>
          </a:stretch>
        </p:blipFill>
        <p:spPr>
          <a:xfrm>
            <a:off x="4053544" y="5617065"/>
            <a:ext cx="1615736" cy="33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95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</TotalTime>
  <Words>231</Words>
  <Application>Microsoft Office PowerPoint</Application>
  <PresentationFormat>Personalizado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SHAI BAÑUELOS GARCIA</dc:creator>
  <cp:lastModifiedBy>Carlos Cortez</cp:lastModifiedBy>
  <cp:revision>15</cp:revision>
  <dcterms:created xsi:type="dcterms:W3CDTF">2026-03-11T13:43:18Z</dcterms:created>
  <dcterms:modified xsi:type="dcterms:W3CDTF">2026-04-02T16:16:56Z</dcterms:modified>
</cp:coreProperties>
</file>